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Arial"/>
              </a:rPr>
              <a:t>Nurse Hours Rise With Census (schematic — see r=0.925 at left)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trend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Low</c:v>
                  </c:pt>
                  <c:pt idx="1">
                    <c:v/>
                  </c:pt>
                  <c:pt idx="2">
                    <c:v/>
                  </c:pt>
                  <c:pt idx="3">
                    <c:v>Medium</c:v>
                  </c:pt>
                  <c:pt idx="4">
                    <c:v/>
                  </c:pt>
                  <c:pt idx="5">
                    <c:v/>
                  </c:pt>
                  <c:pt idx="6">
                    <c:v>High</c:v>
                  </c:pt>
                  <c:pt idx="7">
                    <c:v/>
                  </c:pt>
                  <c:pt idx="8">
                    <c:v/>
                  </c:pt>
                  <c:pt idx="9">
                    <c:v>Highest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800</c:v>
                </c:pt>
                <c:pt idx="1">
                  <c:v>4200</c:v>
                </c:pt>
                <c:pt idx="2">
                  <c:v>8500</c:v>
                </c:pt>
                <c:pt idx="3">
                  <c:v>12800</c:v>
                </c:pt>
                <c:pt idx="4">
                  <c:v>17000</c:v>
                </c:pt>
                <c:pt idx="5">
                  <c:v>25500</c:v>
                </c:pt>
                <c:pt idx="6">
                  <c:v>34000</c:v>
                </c:pt>
                <c:pt idx="7">
                  <c:v>42500</c:v>
                </c:pt>
                <c:pt idx="8">
                  <c:v>51000</c:v>
                </c:pt>
                <c:pt idx="9">
                  <c:v>59500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Average Daily Census (low to high)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Total Monthly Nurse Hours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Lowest Nurse-to-Patient Ratio (states)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Nurse-to-Patient Ratio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</c:v>
                  </c:pt>
                  <c:pt idx="1">
                    <c:v>TX</c:v>
                  </c:pt>
                  <c:pt idx="2">
                    <c:v>OK</c:v>
                  </c:pt>
                  <c:pt idx="3">
                    <c:v>IN</c:v>
                  </c:pt>
                  <c:pt idx="4">
                    <c:v>NM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2.45</c:v>
                </c:pt>
                <c:pt idx="1">
                  <c:v>2.73</c:v>
                </c:pt>
                <c:pt idx="2">
                  <c:v>2.79</c:v>
                </c:pt>
                <c:pt idx="3">
                  <c:v>2.85</c:v>
                </c:pt>
                <c:pt idx="4">
                  <c:v>2.94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Staffing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U.S. Skilled Nursing Facility Staffing, Q2 2024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Payroll-Based Journal (PBJ)  |  1.3M+ daily staffing records  |  14,564 facilities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nurse staffing levels relate to patient census, where staffing coverage is weakest, and how reliant different states are on contract nursing staff — using CMS's payroll-verified staffing data rather than self-reported surveys.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280160"/>
            <a:ext cx="3794760" cy="4846320"/>
          </a:xfrm>
          <a:prstGeom prst="roundRect">
            <a:avLst>
              <a:gd name="adj" fmla="val 2892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This Analysis Answers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18120" y="2011680"/>
            <a:ext cx="3383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relationship between staffing and patient census?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facilities have the highest staffing hours?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average staffing levels by state?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facilities have the lowest nurse-to-patient coverage?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states relying more on contract nurses?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Payroll-Based Journal (PBJ) — Q2 2024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1,325,324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7373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14,564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nursing facilities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7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territories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7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/ 91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reported per facility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framing note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PBJ is nursing-home / skilled-nursing-facility data, not hospital data. Facilities submit this under Affordable Care Act Section 6106 based on actual payroll records — auditable, not self-reported, which is what makes it a stronger basis for staffing analysis than survey-based alternatives.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zero missing values, zero duplicate records, complete reporting across the full quarter.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judgment calls that shaped the results — documented, not defaults.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Direct-Care 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313432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"Direct care" = RN + LPN + CNA hours only, excluding DON/admin/training roles — isolates hands-on-the-floor staffing from oversight.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Math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313432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census summed across the month first, then divided once — not averaged daily. Weights each day by real patient volume.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F7F9F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61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Outlier, Corrected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782312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row had an impossible 13,801-hour LPN value in one day. Traced, confirmed isolated, corrected — row retained, not deleted.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416052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F7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361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Flags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782312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facility-months (low census) + 8 (zero direct-care hours despite real staffing) excluded from ratio rankings — prevents misleading extremes.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Staffing Scales with Patient Census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average daily census and total monthly nurse hours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resident count rises, total nurse hours rise with it — one of the strongest relationships in the dataset. But similarly sized facilities still show real variation in staffing intensity, meaning facility size explains staffing levels, not staffing decisions.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120640" y="1280160"/>
          <a:ext cx="64008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State-Level Patterns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14300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6576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average: 3.37 hrs/patient. Missouri's ranking held after excluding unreliable facility-months (10 of 1,425 flagged).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309360" y="114300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Staff Reliance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2029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0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836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percentage figures for each state are available in the live dashboard's National Overview page.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5720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7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Per-facility hours also vary widely by state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5074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(17,813 hrs/facility/month) and DC (15,402) staff the most per facility; Iowa (5,754) and South Dakota (5,865) the least (Puerto Rico excluded — only 6 facilities, too small to trust). California has the most total hours of any state, but drops to 7th once normalized per facility — raw totals mostly reflect how many facilities a state has, not how well any one facility is staffed.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Streamlit — four pages covering national, state, facility, and operational views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State-by-state comparison of ratio, contract reliance, and hours per facility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148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Lookup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28803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of 14,564 facilities by name or state; view its quarter-long trend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vs. Census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view of the hours-census relationship across every facility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148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72600" y="28803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census &amp; ratio trends, top-10 busiest facilities, lowest reliable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screenshots here — see docs/screenshot_*.png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9344"/>
            <a:ext cx="128016" cy="128016"/>
          </a:xfrm>
          <a:prstGeom prst="oval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5087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quarter only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47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2024 exclusively — no year-over-year or seasonal trend is possible from this file alone.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660904"/>
            <a:ext cx="128016" cy="128016"/>
          </a:xfrm>
          <a:prstGeom prst="oval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603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Direct-care definition has edge cases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8986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facilities staff through admin-coded roles this definition excludes (see White River case in README).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12464"/>
            <a:ext cx="128016" cy="128016"/>
          </a:xfrm>
          <a:prstGeom prst="oval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11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Small-state rankings can be noisy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9502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Rico (6 facilities) excluded from per-facility rankings — too small a sample to trust.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764024"/>
            <a:ext cx="128016" cy="128016"/>
          </a:xfrm>
          <a:prstGeom prst="oval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63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isn't causation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0017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shows patterns (e.g., Missouri's low ratio) but can't explain why — no data on wages, regulation, or policy.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source code, and dashboard available on GitHub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github.com/msaeidGH/nurse-staffing-analysis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Streamlit  ·  PyArrow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2026-08-20T20:30:48Z</dcterms:created>
  <dcterms:modified xsi:type="dcterms:W3CDTF">2026-08-20T20:30:48Z</dcterms:modified>
</cp:coreProperties>
</file>